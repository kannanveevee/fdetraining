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83e00c5-413c-e847-0b7f-935e71546603}">
          <p14:sldIdLst>
            <p14:sldId id="256"/>
            <p14:sldId id="257"/>
            <p14:sldId id="258"/>
          </p14:sldIdLst>
        </p14:section>
        <p14:section name="Part A - RevOps" id="{d93fba65-9f2f-3603-7ce7-030a74698ce7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art B - FinOps" id="{f23e4380-d8f7-58bb-1535-c0e024054d55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Next Steps" id="{f088ffba-099f-8d8a-fdd7-c5377dd9c2b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Readmission outcome, share of encounters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3C4BC"/>
              </a:solidFill>
              <a:effectLst/>
            </c:spPr>
          </c:dPt>
          <c:dPt>
            <c:idx val="1"/>
            <c:bubble3D val="0"/>
            <c:spPr>
              <a:solidFill>
                <a:srgbClr val="7A9E9F"/>
              </a:solidFill>
              <a:effectLst/>
            </c:spPr>
          </c:dPt>
          <c:dPt>
            <c:idx val="2"/>
            <c:bubble3D val="0"/>
            <c:spPr>
              <a:solidFill>
                <a:srgbClr val="E4572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Not readmitted</c:v>
                </c:pt>
                <c:pt idx="1">
                  <c:v>Readmitted after 30 days</c:v>
                </c:pt>
                <c:pt idx="2">
                  <c:v>Readmitted within 30 days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54864</c:v>
                </c:pt>
                <c:pt idx="1">
                  <c:v>35545</c:v>
                </c:pt>
                <c:pt idx="2">
                  <c:v>11357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Share of encounters with no value recorded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or not done</c:v>
                </c:pt>
              </c:strCache>
            </c:strRef>
          </c:tx>
          <c:spPr>
            <a:solidFill>
              <a:srgbClr val="7A9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Weight</c:v>
                  </c:pt>
                  <c:pt idx="1">
                    <c:v>Max glucose serum (not done)</c:v>
                  </c:pt>
                  <c:pt idx="2">
                    <c:v>HbA1c (not done)</c:v>
                  </c:pt>
                  <c:pt idx="3">
                    <c:v>Medical specialty</c:v>
                  </c:pt>
                  <c:pt idx="4">
                    <c:v>Payer code</c:v>
                  </c:pt>
                  <c:pt idx="5">
                    <c:v>Race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96.86</c:v>
                </c:pt>
                <c:pt idx="1">
                  <c:v>94.75</c:v>
                </c:pt>
                <c:pt idx="2">
                  <c:v>83.28</c:v>
                </c:pt>
                <c:pt idx="3">
                  <c:v>49.08</c:v>
                </c:pt>
                <c:pt idx="4">
                  <c:v>39.56</c:v>
                </c:pt>
                <c:pt idx="5">
                  <c:v>2.23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30-day readmission rate by payer code (payers with 500+ encounters)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PO</c:v>
                  </c:pt>
                  <c:pt idx="1">
                    <c:v>CP</c:v>
                  </c:pt>
                  <c:pt idx="2">
                    <c:v>BC</c:v>
                  </c:pt>
                  <c:pt idx="3">
                    <c:v>UN</c:v>
                  </c:pt>
                  <c:pt idx="4">
                    <c:v>SP</c:v>
                  </c:pt>
                  <c:pt idx="5">
                    <c:v>CM</c:v>
                  </c:pt>
                  <c:pt idx="6">
                    <c:v>HM</c:v>
                  </c:pt>
                  <c:pt idx="7">
                    <c:v>DM</c:v>
                  </c:pt>
                  <c:pt idx="8">
                    <c:v>MC</c:v>
                  </c:pt>
                  <c:pt idx="9">
                    <c:v>MD</c:v>
                  </c:pt>
                  <c:pt idx="10">
                    <c:v>OG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7.43</c:v>
                </c:pt>
                <c:pt idx="1">
                  <c:v>8.45</c:v>
                </c:pt>
                <c:pt idx="2">
                  <c:v>9.15</c:v>
                </c:pt>
                <c:pt idx="3">
                  <c:v>9.27</c:v>
                </c:pt>
                <c:pt idx="4">
                  <c:v>10.19</c:v>
                </c:pt>
                <c:pt idx="5">
                  <c:v>10.22</c:v>
                </c:pt>
                <c:pt idx="6">
                  <c:v>10.26</c:v>
                </c:pt>
                <c:pt idx="7">
                  <c:v>11.66</c:v>
                </c:pt>
                <c:pt idx="8">
                  <c:v>11.75</c:v>
                </c:pt>
                <c:pt idx="9">
                  <c:v>11.78</c:v>
                </c:pt>
                <c:pt idx="10">
                  <c:v>13.17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No payer code, by admission code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Payer code missing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Admission type 8 (320)</c:v>
                  </c:pt>
                  <c:pt idx="1">
                    <c:v>Admission type 6 (5,291)</c:v>
                  </c:pt>
                  <c:pt idx="2">
                    <c:v>Admission source 2 (1,104)</c:v>
                  </c:pt>
                  <c:pt idx="3">
                    <c:v>Admission source 17 (6,781)</c:v>
                  </c:pt>
                  <c:pt idx="4">
                    <c:v>All other encounters (91,269)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99.9</c:v>
                </c:pt>
                <c:pt idx="2">
                  <c:v>94.3</c:v>
                </c:pt>
                <c:pt idx="3">
                  <c:v>74.5</c:v>
                </c:pt>
                <c:pt idx="4">
                  <c:v>34.6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Predicting a missing payer code (AUC)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C9D3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Coin flip</c:v>
                  </c:pt>
                  <c:pt idx="1">
                    <c:v>Clinical profile only</c:v>
                  </c:pt>
                  <c:pt idx="2">
                    <c:v>Clinical + admission codes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0.64</c:v>
                </c:pt>
                <c:pt idx="2">
                  <c:v>0.76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30-day readmission rate by inpatient visits in prior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 rate</c:v>
                </c:pt>
              </c:strCache>
            </c:strRef>
          </c:tx>
          <c:spPr>
            <a:solidFill>
              <a:srgbClr val="0B6E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8.44</c:v>
                </c:pt>
                <c:pt idx="1">
                  <c:v>12.92</c:v>
                </c:pt>
                <c:pt idx="2">
                  <c:v>17.43</c:v>
                </c:pt>
                <c:pt idx="3">
                  <c:v>20.29</c:v>
                </c:pt>
                <c:pt idx="4">
                  <c:v>30.7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A63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4A5A63"/>
                    </a:solidFill>
                    <a:latin typeface="+mn-lt"/>
                  </a:rPr>
                  <a:t>Inpatient visits in the year before this encounter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Share of encounters with HbA1c measured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HbA1c measured</c:v>
                </c:pt>
              </c:strCache>
            </c:strRef>
          </c:tx>
          <c:spPr>
            <a:solidFill>
              <a:srgbClr val="7A9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9E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0-1 prior admissions</c:v>
                  </c:pt>
                  <c:pt idx="1">
                    <c:v>2+ prior admissions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17.51</c:v>
                </c:pt>
                <c:pt idx="1">
                  <c:v>12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+mn-lt"/>
              </a:rPr>
              <a:t>30-day readmission rate (unadjusted)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30-day readmission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6E7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HbA1c not measured</c:v>
                  </c:pt>
                  <c:pt idx="1">
                    <c:v>HbA1c measured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11.42</c:v>
                </c:pt>
                <c:pt idx="1">
                  <c:v>9.85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A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built only from the Kaggle dataset (diabetic_data.csv) and its accompanying paper (Strack et al., 2014, BioMed Research International). Part A covers the revenue-cycle (RevOps) problem, Part B the cost and capacity (FinOps) problem. No cost or charge fields exist in the data, so value is stated in encounters and bed-days, not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independent tracks from the same data. A (RevOps): payer code missing on 40,256 encounters; missingness is driven by registration pathway codes rather than by patient characteristics. B (FinOps): repeat demand concentrated in prior high-utilisers; HbA1c measurement associated with lower 30-day readmission after adjustment.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Readmitted within 30 days: 11,357 encounters = 11.2%. After 30 days: 35,545 = 34.9%. Not readmitted: 54,864 = 53.9%. 130 hospitals and the 1999-2008 window come from the dataset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RevOps track: revenue-cycle data capture. Problem, evidence, hypothesis H1, solution and value all come from the payer_code and admission code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Payer code '?' on 40,256 of 101,766 encounters. Those encounters account for 184,842 of 447,362 bed-days and 4,627 of 11,357 30-day readmissions. Without a payer, cost and readmission burden cannot be assigned to a contract. HbA1c and max glucose are coded 'None' when the test was not performed (used in Part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Known-payer encounters only, 11 payer codes with at least 500 encounters. Rates: PO 7.4% (592), CP 8.4% (2,533), BC 9.2% (4,655), UN 9.3% (2,448), SP 10.2% (5,007), CM 10.2% (1,937), HM 10.3% (6,274), DM 11.7% (549), MC 11.7% (32,439), MD 11.8% (3,532), OG 13.2% (1,033). Code MC alone carries 145,469 of the 262,520 known-payer bed-days. Because payers differ, the unattributed 40% hides real differences in contract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admission codes (type 6, type 8, source 2, source 17) cover 10,497 encounters; 82.9% of them have no payer code versus 34.6% for all other encounters. They hold 8,698 (21.6%) of the missing-payer encounters. Meanwhile, clinical profile is similar between known and missing payer encounters (table). This points to how the encounter was registered, not to who the patient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regressions predicting payer_code missing. Model 1: age band, gender, time_in_hospital, num_lab_procedures, num_procedures, num_medications, prior outpatient/emergency/inpatient visits, number_diagnoses, 30-day readmission; AUC 0.64. Model 2 adds admission_type_id and admission_source_id; AUC 0.76. AUC 0.5 = no better than chance, 1.0 = perfect. 16,773 patients have more than one encounter; 1,162 (6.9%) have a mix of known and missing payer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if payer capture reaches 100%: all 40,256 currently blank encounters, their 184,842 bed-days and 4,627 30-day readmissions become assignable to a payer contract. Quick win: 1,660 encounters back-filled from the same patient's other records. No dollar values are stated because the dataset has no charge or reimbursement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FinOps track: cost and capacity. Problem, evidence, hypothesis H2, solution and value use readmission, prior-visit and HbA1c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number_inpatient = inpatient visits in the year preceding the encounter. Rates: 0 prior 8.4% (67,630 enc), 1 prior 12.9% (19,521), 2 prior 17.4% (7,566), 3 prior 20.3% (3,411), 4+ prior 30.7% (3,638). 16,773 of 71,518 patients appear more than once; their 47,021 encounters used 216,399 bed-days.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HbA1c measured on 17,018 of 101,766 encounters (16.7%). Among the 14,615 encounters with 2+ prior inpatient visits, only 12.0% were measured, versus 17.5% for the rest, even though the 2+ group readmits at 21.4%. Unadjusted 30-day readmission: 11.4% not measured (84,748 enc) vs 9.9% measured (17,018 enc). Adjusted test on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Multivariable logistic regression (statsmodels), outcome = readmitted '&lt;30'. Excluded 1,642 encounters with discharge disposition 11 (zero readmissions, causes perfect separation) and 3 with unknown gender. Overall OR 0.89, 95% CI 0.84-0.94, p&lt;0.001. By primary diagnosis: Diabetes 0.77 (p=0.001), Respiratory 0.78 (p=0.003), Injury 0.68 (p=0.005); Circulatory 0.95 (p=0.31) and Other 0.93 (p=0.31) not significant. Digestive model did not converge and is omitted. Sensitivity using first encounter per patient: 0.94 (0.88-1.01), p=0.09, weaker and not significant. This matches the source paper's conclusion that the HbA1c-readmission relationship depends on primary diagnosis. Observational association, not proof of causation.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Prioritisation uses only fields that exist in the data (number_inpatient and primary diagnosis), matching the segments where the adjusted association was significant. Step 3 reuses the payer field fixed in Part A so readmission cost can be reported per payer.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 via g-computation from the adjusted logistic model (H2): predicted 30-day readmission for the 83,244 unmeasured encounters falls from 11.6% to 10.5% if HbA1c were measured, about 931 encounters. This is an observational association and the first-encounter sensitivity was weaker, so treat 931 as an upper-bound planning figure to be confirmed by the pilot. Bed-day conversion uses the dataset average stay of 4.4 days as an assumption. Patient value: fewer returns to hospital and earlier attention to glycaemic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runs both tracks together because the FinOps tracker (step 3) needs the payer field fixed by RevOps. Limitations are stated so the recommendation is not oversold.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57200" y="48006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C85"/>
                </a:solidFill>
              </a:rPr>
              <a:t>Source: Kaggle brandao/diabetes (Diabetes 130-US Hospitals, 1999-2008; Strack et al., 2014). Figures computed from diabetic_data.csv, 101,766 encounters.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Diabetic inpatients: revenue we cannot attribute and a test we rarely order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Part A: RevOps  |  Part B: FinOps  |  Kaggle Diabetes 130-US Hospitals dataset (1999-2008), 101,766 encounters, 71,518 patients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problems: who pays, and who comes back</a:t>
            </a:r>
            <a:endParaRPr lang="en-US" sz="2400" dirty="0"/>
          </a:p>
        </p:txBody>
      </p:sp>
      <p:sp>
        <p:nvSpPr>
          <p:cNvPr id="4" name="Track A"/>
          <p:cNvSpPr/>
          <p:nvPr/>
        </p:nvSpPr>
        <p:spPr>
          <a:xfrm>
            <a:off x="45720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44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</a:rPr>
              <a:t>RevOps: revenue attribution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933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93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40% of encounters (41% of bed-days) have no payer 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054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Evidence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5054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Gap clusters in 4 admission codes (83% blank vs 35% elsewhere)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Hypothesis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H1: a capture-process gap, not patient mix (AUC 0.64)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9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Solution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529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Registration hard stop + back-fill work queue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Value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41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40,256 encounters and 4,627 readmissions made attributable</a:t>
            </a:r>
            <a:endParaRPr lang="en-US" sz="1150" dirty="0"/>
          </a:p>
        </p:txBody>
      </p:sp>
      <p:sp>
        <p:nvSpPr>
          <p:cNvPr id="18" name="Track B"/>
          <p:cNvSpPr/>
          <p:nvPr/>
        </p:nvSpPr>
        <p:spPr>
          <a:xfrm>
            <a:off x="4663440" y="128016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444752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444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75"/>
                </a:solidFill>
              </a:rPr>
              <a:t>FinOps: repeat-admission cost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19933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Problem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1993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Repeat patients use 48% of bed-days; 11.2% return in 30 days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5054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Evidence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5054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HbA1c measured in 17% of stays, 12% for 2+ prior admissions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Hypothesis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H2: HbA1c testing linked to fewer returns (OR 0.89)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35295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Solution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352958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Automatic HbA1c order for diabetic admissions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4041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Value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760720" y="40416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~931 fewer readmissions, ~4,100 bed-days (model estimate)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DATASET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years of diabetic stays across 130 US hospitals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101,766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inpatient encounters with a diabetes diagnosis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71,518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unique patients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447,362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hospital bed-days (sum of time_in_hospital)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606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days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154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average length of stay (range 1-14)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Each row is one encounter with 50 fields: demographics, admission and discharge codes, diagnoses, lab results (HbA1c, glucose), 24 diabetes medications, payer code, and the readmission outcome.</a:t>
            </a:r>
            <a:endParaRPr lang="en-US" sz="11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54880" y="1234440"/>
          <a:ext cx="39319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PART A  |  REVOPS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we cannot attribute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Four in ten diabetic encounters carry no payer code, so their cost and readmissions cannot be tied to a contract.</a:t>
            </a:r>
            <a:endParaRPr lang="en-US" sz="1600" dirty="0"/>
          </a:p>
        </p:txBody>
      </p:sp>
      <p:sp>
        <p:nvSpPr>
          <p:cNvPr id="5" name="Flow Problem"/>
          <p:cNvSpPr/>
          <p:nvPr/>
        </p:nvSpPr>
        <p:spPr>
          <a:xfrm>
            <a:off x="548640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Problem</a:t>
            </a:r>
            <a:endParaRPr lang="en-US" sz="1200" dirty="0"/>
          </a:p>
        </p:txBody>
      </p:sp>
      <p:sp>
        <p:nvSpPr>
          <p:cNvPr id="7" name="Flow Evidence"/>
          <p:cNvSpPr/>
          <p:nvPr/>
        </p:nvSpPr>
        <p:spPr>
          <a:xfrm>
            <a:off x="2176272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Evidence</a:t>
            </a:r>
            <a:endParaRPr lang="en-US" sz="1200" dirty="0"/>
          </a:p>
        </p:txBody>
      </p:sp>
      <p:sp>
        <p:nvSpPr>
          <p:cNvPr id="9" name="Flow Hypothesis"/>
          <p:cNvSpPr/>
          <p:nvPr/>
        </p:nvSpPr>
        <p:spPr>
          <a:xfrm>
            <a:off x="3803904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Hypothesis</a:t>
            </a:r>
            <a:endParaRPr lang="en-US" sz="1200" dirty="0"/>
          </a:p>
        </p:txBody>
      </p:sp>
      <p:sp>
        <p:nvSpPr>
          <p:cNvPr id="11" name="Flow Solution"/>
          <p:cNvSpPr/>
          <p:nvPr/>
        </p:nvSpPr>
        <p:spPr>
          <a:xfrm>
            <a:off x="5431536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31536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Solution</a:t>
            </a:r>
            <a:endParaRPr lang="en-US" sz="1200" dirty="0"/>
          </a:p>
        </p:txBody>
      </p:sp>
      <p:sp>
        <p:nvSpPr>
          <p:cNvPr id="13" name="Flow Value"/>
          <p:cNvSpPr/>
          <p:nvPr/>
        </p:nvSpPr>
        <p:spPr>
          <a:xfrm>
            <a:off x="7059168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9168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Value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REVOPS  |  1 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of encounters cannot be tied to a payer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yer gap callout"/>
          <p:cNvSpPr/>
          <p:nvPr/>
        </p:nvSpPr>
        <p:spPr>
          <a:xfrm>
            <a:off x="5486400" y="128016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6692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Encounters with no payer code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737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40,256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286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encounters (39.6% of all)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697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184,842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bed-days (41.3% of all bed-days)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4,627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30-day readmissions (40.7% of all) with no payer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REVOPS  |  2  EVIDENCE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readmission rates differ, so the gap matters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Payer spread callout"/>
          <p:cNvSpPr/>
          <p:nvPr/>
        </p:nvSpPr>
        <p:spPr>
          <a:xfrm>
            <a:off x="6126480" y="12801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1.8x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gap between the lowest (7.4%) and highest (13.2%) payer rate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readmission rate of the 40,256 encounters with no payer: no contract to assign it to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3886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A5A63"/>
                </a:solidFill>
              </a:rPr>
              <a:t>Payer codes are shown as recorded; the Kaggle files do not define them.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REVOPS  |  2  EVIDENCE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sits in registration pathways, not in the patients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212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Patients with and without a payer code look alike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69164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61,510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readmission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length of 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medications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diagnoses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HbA1c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212080" y="4251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A5A63"/>
                </a:solidFill>
              </a:rPr>
              <a:t>Admission code labels are not in the Kaggle files; codes are shown as recorded.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REVOPS  |  3  HYPOTHESIS &amp; TEST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payer codes are a process gap, not a patient type</a:t>
            </a:r>
            <a:endParaRPr lang="en-US" sz="2400" dirty="0"/>
          </a:p>
        </p:txBody>
      </p:sp>
      <p:sp>
        <p:nvSpPr>
          <p:cNvPr id="4" name="Hypothesis H1 box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</a:rPr>
              <a:t>H1: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Whether a payer code is missing depends on how the encounter was registered more than on the patient's clinical profile, so a control at registration can close most of the gap.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2011680"/>
          <a:ext cx="44805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H1 result 1"/>
          <p:cNvSpPr/>
          <p:nvPr/>
        </p:nvSpPr>
        <p:spPr>
          <a:xfrm>
            <a:off x="5120640" y="20574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303520" y="21488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75"/>
                </a:solidFill>
              </a:rPr>
              <a:t>Result: supported.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Age, sex, stay length, labs, medications, diagnoses and prior visits barely predict a missing payer (0.64). Adding admission codes lifts it to 0.76.</a:t>
            </a:r>
            <a:endParaRPr lang="en-US" sz="1100" dirty="0"/>
          </a:p>
        </p:txBody>
      </p:sp>
      <p:sp>
        <p:nvSpPr>
          <p:cNvPr id="9" name="H1 result 2"/>
          <p:cNvSpPr/>
          <p:nvPr/>
        </p:nvSpPr>
        <p:spPr>
          <a:xfrm>
            <a:off x="5120640" y="34290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303520" y="35204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Same patient, different answer.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1,162 repeat patients have a payer on one encounter but not on another: 1,660 blank encounters (7,069 bed-days) can be filled from the patient's own record.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REVOPS  |  4-5  SOLUTION &amp;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payer at registration, back-fill the rest</a:t>
            </a:r>
            <a:endParaRPr lang="en-US" sz="2400" dirty="0"/>
          </a:p>
        </p:txBody>
      </p:sp>
      <p:sp>
        <p:nvSpPr>
          <p:cNvPr id="4" name="Step 1"/>
          <p:cNvSpPr/>
          <p:nvPr/>
        </p:nvSpPr>
        <p:spPr>
          <a:xfrm>
            <a:off x="45720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Back-fill work queue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Copy the payer from the same patient's other encounters. Ready list: 1,660 encounters.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7,069 bed-days recovered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0672" y="2263140"/>
            <a:ext cx="128016" cy="274320"/>
          </a:xfrm>
          <a:prstGeom prst="chevron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329184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44752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REGISTRATION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Payer-code hard stop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Encounter cannot be finalised without a payer. Start with admission type 6, 8 and source 2, 17.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75"/>
                </a:solidFill>
              </a:rPr>
              <a:t>Targets 8,698 blanks first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25312" y="2263140"/>
            <a:ext cx="128016" cy="274320"/>
          </a:xfrm>
          <a:prstGeom prst="chevron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20" name="Step 3"/>
          <p:cNvSpPr/>
          <p:nvPr/>
        </p:nvSpPr>
        <p:spPr>
          <a:xfrm>
            <a:off x="612648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444752"/>
            <a:ext cx="384048" cy="38404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MONTHLY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Payer readmission view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Report 30-day readmission and bed-days by payer code, so contract talks use real rates.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A80"/>
                </a:solidFill>
              </a:rPr>
              <a:t>Payer rates range 7.4-13.2%</a:t>
            </a:r>
            <a:endParaRPr lang="en-US" sz="1100" dirty="0"/>
          </a:p>
        </p:txBody>
      </p:sp>
      <p:sp>
        <p:nvSpPr>
          <p:cNvPr id="27" name="RevOps value strip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40,256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encounters attributable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184,842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bed-days attributable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4,627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readmissions attributable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PART B  |  FINOPS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Bed-days lost to repeat admissions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Repeat diabetic patients use almost half of all bed-days, and HbA1c is rarely measured for them.</a:t>
            </a:r>
            <a:endParaRPr lang="en-US" sz="1600" dirty="0"/>
          </a:p>
        </p:txBody>
      </p:sp>
      <p:sp>
        <p:nvSpPr>
          <p:cNvPr id="5" name="Flow Problem"/>
          <p:cNvSpPr/>
          <p:nvPr/>
        </p:nvSpPr>
        <p:spPr>
          <a:xfrm>
            <a:off x="548640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6E75"/>
          </a:solidFill>
          <a:ln w="15875">
            <a:solidFill>
              <a:srgbClr val="0B6E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Problem</a:t>
            </a:r>
            <a:endParaRPr lang="en-US" sz="1200" dirty="0"/>
          </a:p>
        </p:txBody>
      </p:sp>
      <p:sp>
        <p:nvSpPr>
          <p:cNvPr id="7" name="Flow Evidence"/>
          <p:cNvSpPr/>
          <p:nvPr/>
        </p:nvSpPr>
        <p:spPr>
          <a:xfrm>
            <a:off x="2176272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0B6E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Evidence</a:t>
            </a:r>
            <a:endParaRPr lang="en-US" sz="1200" dirty="0"/>
          </a:p>
        </p:txBody>
      </p:sp>
      <p:sp>
        <p:nvSpPr>
          <p:cNvPr id="9" name="Flow Hypothesis"/>
          <p:cNvSpPr/>
          <p:nvPr/>
        </p:nvSpPr>
        <p:spPr>
          <a:xfrm>
            <a:off x="3803904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0B6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03904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Hypothesis</a:t>
            </a:r>
            <a:endParaRPr lang="en-US" sz="1200" dirty="0"/>
          </a:p>
        </p:txBody>
      </p:sp>
      <p:sp>
        <p:nvSpPr>
          <p:cNvPr id="11" name="Flow Solution"/>
          <p:cNvSpPr/>
          <p:nvPr/>
        </p:nvSpPr>
        <p:spPr>
          <a:xfrm>
            <a:off x="5431536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0B6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31536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Solution</a:t>
            </a:r>
            <a:endParaRPr lang="en-US" sz="1200" dirty="0"/>
          </a:p>
        </p:txBody>
      </p:sp>
      <p:sp>
        <p:nvSpPr>
          <p:cNvPr id="13" name="Flow Value"/>
          <p:cNvSpPr/>
          <p:nvPr/>
        </p:nvSpPr>
        <p:spPr>
          <a:xfrm>
            <a:off x="7059168" y="3566160"/>
            <a:ext cx="1444752" cy="457200"/>
          </a:xfrm>
          <a:prstGeom prst="roundRect">
            <a:avLst>
              <a:gd name="adj" fmla="val 50000"/>
            </a:avLst>
          </a:prstGeom>
          <a:solidFill>
            <a:srgbClr val="0B3C49"/>
          </a:solidFill>
          <a:ln w="15875">
            <a:solidFill>
              <a:srgbClr val="0B6E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59168" y="3566160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Value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FINOPS  |  1 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users consume almost half of all bed-days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peat demand callout"/>
          <p:cNvSpPr/>
          <p:nvPr/>
        </p:nvSpPr>
        <p:spPr>
          <a:xfrm>
            <a:off x="5577840" y="128016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7607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2011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patients (16,773) had more than one encounter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all bed-days (216,399) went to those repeat patients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Risk rises 3.6x from patients with no prior admission (8.4%) to those with 4+ (30.7%).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FINOPS  |  2  EVIDENCE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patients most likely to return are tested least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3444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FINOPS  |  3  HYPOTHESIS &amp; TEST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HbA1c testing is linked to fewer readmissions</a:t>
            </a:r>
            <a:endParaRPr lang="en-US" sz="2400" dirty="0"/>
          </a:p>
        </p:txBody>
      </p:sp>
      <p:sp>
        <p:nvSpPr>
          <p:cNvPr id="4" name="Hypothesis H2 box"/>
          <p:cNvSpPr/>
          <p:nvPr/>
        </p:nvSpPr>
        <p:spPr>
          <a:xfrm>
            <a:off x="457200" y="12344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</a:rPr>
              <a:t>H2: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Diabetic inpatients whose HbA1c is measured during the stay have lower odds of 30-day readmission, after adjusting for age, sex, race, admission type/source, discharge disposition, prior visits, length of stay, medications, diagnoses count and primary diagnosis.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Group (encounters)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Adjusted OR (95% CI)</a:t>
            </a:r>
            <a:endParaRPr lang="en-US" sz="1000" dirty="0"/>
          </a:p>
        </p:txBody>
      </p:sp>
      <p:sp>
        <p:nvSpPr>
          <p:cNvPr id="8" name="No-effect line"/>
          <p:cNvSpPr/>
          <p:nvPr/>
        </p:nvSpPr>
        <p:spPr>
          <a:xfrm>
            <a:off x="6400800" y="2240280"/>
            <a:ext cx="0" cy="2157984"/>
          </a:xfrm>
          <a:prstGeom prst="line">
            <a:avLst/>
          </a:prstGeom>
          <a:noFill/>
          <a:ln w="12700">
            <a:solidFill>
              <a:srgbClr val="9AA7AD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7200" y="22860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All encounters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(100,121)</a:t>
            </a:r>
            <a:endParaRPr lang="en-US" sz="1100" dirty="0"/>
          </a:p>
        </p:txBody>
      </p:sp>
      <p:sp>
        <p:nvSpPr>
          <p:cNvPr id="10" name="CI All encounters"/>
          <p:cNvSpPr/>
          <p:nvPr/>
        </p:nvSpPr>
        <p:spPr>
          <a:xfrm>
            <a:off x="5742432" y="2436876"/>
            <a:ext cx="411480" cy="0"/>
          </a:xfrm>
          <a:prstGeom prst="line">
            <a:avLst/>
          </a:prstGeom>
          <a:noFill/>
          <a:ln w="25400">
            <a:solidFill>
              <a:srgbClr val="0B6E75"/>
            </a:solidFill>
            <a:prstDash val="solid"/>
          </a:ln>
        </p:spPr>
      </p:sp>
      <p:sp>
        <p:nvSpPr>
          <p:cNvPr id="11" name="OR All encounters"/>
          <p:cNvSpPr/>
          <p:nvPr/>
        </p:nvSpPr>
        <p:spPr>
          <a:xfrm>
            <a:off x="5875020" y="2363724"/>
            <a:ext cx="146304" cy="146304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228600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0.89 (0.84-0.94)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58775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dx: Diabetes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(8,693)</a:t>
            </a:r>
            <a:endParaRPr lang="en-US" sz="1100" dirty="0"/>
          </a:p>
        </p:txBody>
      </p:sp>
      <p:sp>
        <p:nvSpPr>
          <p:cNvPr id="14" name="CI Primary dx: Diabetes"/>
          <p:cNvSpPr/>
          <p:nvPr/>
        </p:nvSpPr>
        <p:spPr>
          <a:xfrm>
            <a:off x="5001768" y="2738628"/>
            <a:ext cx="987552" cy="0"/>
          </a:xfrm>
          <a:prstGeom prst="line">
            <a:avLst/>
          </a:prstGeom>
          <a:noFill/>
          <a:ln w="25400">
            <a:solidFill>
              <a:srgbClr val="0B6E75"/>
            </a:solidFill>
            <a:prstDash val="solid"/>
          </a:ln>
        </p:spPr>
      </p:sp>
      <p:sp>
        <p:nvSpPr>
          <p:cNvPr id="15" name="OR Primary dx: Diabetes"/>
          <p:cNvSpPr/>
          <p:nvPr/>
        </p:nvSpPr>
        <p:spPr>
          <a:xfrm>
            <a:off x="5381244" y="2665476"/>
            <a:ext cx="146304" cy="146304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25877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0.77 (0.66-0.90)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8950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dx: Respiratory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(14,020)</a:t>
            </a:r>
            <a:endParaRPr lang="en-US" sz="1100" dirty="0"/>
          </a:p>
        </p:txBody>
      </p:sp>
      <p:sp>
        <p:nvSpPr>
          <p:cNvPr id="18" name="CI Primary dx: Respiratory"/>
          <p:cNvSpPr/>
          <p:nvPr/>
        </p:nvSpPr>
        <p:spPr>
          <a:xfrm>
            <a:off x="5001768" y="3040380"/>
            <a:ext cx="1069848" cy="0"/>
          </a:xfrm>
          <a:prstGeom prst="line">
            <a:avLst/>
          </a:prstGeom>
          <a:noFill/>
          <a:ln w="25400">
            <a:solidFill>
              <a:srgbClr val="0B6E75"/>
            </a:solidFill>
            <a:prstDash val="solid"/>
          </a:ln>
        </p:spPr>
      </p:sp>
      <p:sp>
        <p:nvSpPr>
          <p:cNvPr id="19" name="OR Primary dx: Respiratory"/>
          <p:cNvSpPr/>
          <p:nvPr/>
        </p:nvSpPr>
        <p:spPr>
          <a:xfrm>
            <a:off x="5422392" y="2967228"/>
            <a:ext cx="146304" cy="146304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2889504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0.78 (0.66-0.92)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19125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dx: Injury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(6,856)</a:t>
            </a:r>
            <a:endParaRPr lang="en-US" sz="1100" dirty="0"/>
          </a:p>
        </p:txBody>
      </p:sp>
      <p:sp>
        <p:nvSpPr>
          <p:cNvPr id="22" name="CI Primary dx: Injury"/>
          <p:cNvSpPr/>
          <p:nvPr/>
        </p:nvSpPr>
        <p:spPr>
          <a:xfrm>
            <a:off x="4425696" y="3342132"/>
            <a:ext cx="1522476" cy="0"/>
          </a:xfrm>
          <a:prstGeom prst="line">
            <a:avLst/>
          </a:prstGeom>
          <a:noFill/>
          <a:ln w="25400">
            <a:solidFill>
              <a:srgbClr val="0B6E75"/>
            </a:solidFill>
            <a:prstDash val="solid"/>
          </a:ln>
        </p:spPr>
      </p:sp>
      <p:sp>
        <p:nvSpPr>
          <p:cNvPr id="23" name="OR Primary dx: Injury"/>
          <p:cNvSpPr/>
          <p:nvPr/>
        </p:nvSpPr>
        <p:spPr>
          <a:xfrm>
            <a:off x="5010912" y="3268980"/>
            <a:ext cx="146304" cy="146304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3191256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0.68 (0.52-0.89)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493008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dx: Circulatory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(29,877)</a:t>
            </a:r>
            <a:endParaRPr lang="en-US" sz="1100" dirty="0"/>
          </a:p>
        </p:txBody>
      </p:sp>
      <p:sp>
        <p:nvSpPr>
          <p:cNvPr id="26" name="CI Primary dx: Circulatory"/>
          <p:cNvSpPr/>
          <p:nvPr/>
        </p:nvSpPr>
        <p:spPr>
          <a:xfrm>
            <a:off x="5824728" y="3643884"/>
            <a:ext cx="781812" cy="0"/>
          </a:xfrm>
          <a:prstGeom prst="line">
            <a:avLst/>
          </a:prstGeom>
          <a:noFill/>
          <a:ln w="25400">
            <a:solidFill>
              <a:srgbClr val="9AA7AD"/>
            </a:solidFill>
            <a:prstDash val="solid"/>
          </a:ln>
        </p:spPr>
      </p:sp>
      <p:sp>
        <p:nvSpPr>
          <p:cNvPr id="27" name="OR Primary dx: Circulatory"/>
          <p:cNvSpPr/>
          <p:nvPr/>
        </p:nvSpPr>
        <p:spPr>
          <a:xfrm>
            <a:off x="6121908" y="3570732"/>
            <a:ext cx="146304" cy="146304"/>
          </a:xfrm>
          <a:prstGeom prst="ellipse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3493008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0.95 (0.86-1.05)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947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Primary dx: Other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(17,878)</a:t>
            </a:r>
            <a:endParaRPr lang="en-US" sz="1100" dirty="0"/>
          </a:p>
        </p:txBody>
      </p:sp>
      <p:sp>
        <p:nvSpPr>
          <p:cNvPr id="30" name="CI Primary dx: Other"/>
          <p:cNvSpPr/>
          <p:nvPr/>
        </p:nvSpPr>
        <p:spPr>
          <a:xfrm>
            <a:off x="5660136" y="3945636"/>
            <a:ext cx="1028700" cy="0"/>
          </a:xfrm>
          <a:prstGeom prst="line">
            <a:avLst/>
          </a:prstGeom>
          <a:noFill/>
          <a:ln w="25400">
            <a:solidFill>
              <a:srgbClr val="9AA7AD"/>
            </a:solidFill>
            <a:prstDash val="solid"/>
          </a:ln>
        </p:spPr>
      </p:sp>
      <p:sp>
        <p:nvSpPr>
          <p:cNvPr id="31" name="OR Primary dx: Other"/>
          <p:cNvSpPr/>
          <p:nvPr/>
        </p:nvSpPr>
        <p:spPr>
          <a:xfrm>
            <a:off x="6039612" y="3872484"/>
            <a:ext cx="146304" cy="146304"/>
          </a:xfrm>
          <a:prstGeom prst="ellipse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379476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0.93 (0.82-1.07)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09651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First encounter per patient</a:t>
            </a:r>
            <a:pPr indent="0" marL="0">
              <a:buNone/>
            </a:pPr>
            <a:r>
              <a:rPr lang="en-US" sz="1100" dirty="0">
                <a:solidFill>
                  <a:srgbClr val="6B7C85"/>
                </a:solidFill>
              </a:rPr>
              <a:t>  (70,443)</a:t>
            </a:r>
            <a:endParaRPr lang="en-US" sz="1100" dirty="0"/>
          </a:p>
        </p:txBody>
      </p:sp>
      <p:sp>
        <p:nvSpPr>
          <p:cNvPr id="34" name="CI First encounter per patient"/>
          <p:cNvSpPr/>
          <p:nvPr/>
        </p:nvSpPr>
        <p:spPr>
          <a:xfrm>
            <a:off x="5907024" y="4247388"/>
            <a:ext cx="534924" cy="0"/>
          </a:xfrm>
          <a:prstGeom prst="line">
            <a:avLst/>
          </a:prstGeom>
          <a:noFill/>
          <a:ln w="25400">
            <a:solidFill>
              <a:srgbClr val="9AA7AD"/>
            </a:solidFill>
            <a:prstDash val="solid"/>
          </a:ln>
        </p:spPr>
      </p:sp>
      <p:sp>
        <p:nvSpPr>
          <p:cNvPr id="35" name="OR First encounter per patient"/>
          <p:cNvSpPr/>
          <p:nvPr/>
        </p:nvSpPr>
        <p:spPr>
          <a:xfrm>
            <a:off x="6080760" y="4174236"/>
            <a:ext cx="146304" cy="146304"/>
          </a:xfrm>
          <a:prstGeom prst="ellipse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69480" y="409651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0.94 (0.88-1.01)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4416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</a:rPr>
              <a:t>0.6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4416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</a:rPr>
              <a:t>0.8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4416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</a:rPr>
              <a:t>1.0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995160" y="4416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85"/>
                </a:solidFill>
              </a:rPr>
              <a:t>1.2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416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63"/>
                </a:solidFill>
              </a:rPr>
              <a:t>Below 1.0 = lower readmission odds when HbA1c measured. Teal = significant (p &lt; 0.01).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FINOPS  |  4 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HbA1c into the admission order set</a:t>
            </a:r>
            <a:endParaRPr lang="en-US" sz="2400" dirty="0"/>
          </a:p>
        </p:txBody>
      </p:sp>
      <p:sp>
        <p:nvSpPr>
          <p:cNvPr id="4" name="Step 1"/>
          <p:cNvSpPr/>
          <p:nvPr/>
        </p:nvSpPr>
        <p:spPr>
          <a:xfrm>
            <a:off x="45720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44752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ADMISSION ORDER SET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Automatic HbA1c order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Any diabetic inpatient with no HbA1c result triggers an order. No predictive model needed.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75"/>
                </a:solidFill>
              </a:rPr>
              <a:t>Targets the 83.3% not measured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0672" y="2263140"/>
            <a:ext cx="128016" cy="274320"/>
          </a:xfrm>
          <a:prstGeom prst="chevron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12" name="Step 2"/>
          <p:cNvSpPr/>
          <p:nvPr/>
        </p:nvSpPr>
        <p:spPr>
          <a:xfrm>
            <a:off x="329184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444752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PRIORITISE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Highest-return segments first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2+ prior admissions (14,615 encounters, 12.0% tested), and primary dx Diabetes, Respiratory or Injury.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Where H2 was significant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25312" y="2263140"/>
            <a:ext cx="128016" cy="274320"/>
          </a:xfrm>
          <a:prstGeom prst="chevron">
            <a:avLst/>
          </a:prstGeom>
          <a:solidFill>
            <a:srgbClr val="9AA7AD"/>
          </a:solidFill>
          <a:ln w="12700">
            <a:solidFill>
              <a:srgbClr val="9AA7AD"/>
            </a:solidFill>
            <a:prstDash val="solid"/>
          </a:ln>
        </p:spPr>
      </p:sp>
      <p:sp>
        <p:nvSpPr>
          <p:cNvPr id="20" name="Step 3"/>
          <p:cNvSpPr/>
          <p:nvPr/>
        </p:nvSpPr>
        <p:spPr>
          <a:xfrm>
            <a:off x="6126480" y="1280160"/>
            <a:ext cx="2560320" cy="2240280"/>
          </a:xfrm>
          <a:prstGeom prst="roundRect">
            <a:avLst>
              <a:gd name="adj" fmla="val 3265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444752"/>
            <a:ext cx="384048" cy="38404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A63"/>
                </a:solidFill>
              </a:rPr>
              <a:t>MONTHLY REVIEW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1938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Bed-day tracker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30428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Track HbA1c rate, 30-day readmission and bed-days by segment, and by payer once Part A is live.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0815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A80"/>
                </a:solidFill>
              </a:rPr>
              <a:t>Links FinOps to RevOps</a:t>
            </a:r>
            <a:endParaRPr lang="en-US" sz="1100" dirty="0"/>
          </a:p>
        </p:txBody>
      </p:sp>
      <p:sp>
        <p:nvSpPr>
          <p:cNvPr id="27" name="FinOps baseline strip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8580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224028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stays have HbA1c today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84,748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encounters with no HbA1c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37673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14,615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3767328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priority encounters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FINOPS  |  5  BUSINESS &amp; PATIENT VALUE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~931 fewer readmissions and ~4,100 bed-days released</a:t>
            </a:r>
            <a:endParaRPr lang="en-US" sz="2400" dirty="0"/>
          </a:p>
        </p:txBody>
      </p:sp>
      <p:sp>
        <p:nvSpPr>
          <p:cNvPr id="4" name="Value 1"/>
          <p:cNvSpPr/>
          <p:nvPr/>
        </p:nvSpPr>
        <p:spPr>
          <a:xfrm>
            <a:off x="45720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~931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fewer 30-day readmissions if all unmeasured encounters had HbA1c (model estimate; 8.2% of 11,357)</a:t>
            </a:r>
            <a:endParaRPr lang="en-US" sz="1050" dirty="0"/>
          </a:p>
        </p:txBody>
      </p:sp>
      <p:sp>
        <p:nvSpPr>
          <p:cNvPr id="7" name="Value 2"/>
          <p:cNvSpPr/>
          <p:nvPr/>
        </p:nvSpPr>
        <p:spPr>
          <a:xfrm>
            <a:off x="3200400" y="12801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3898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~4,100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20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bed-days released (931 x 4.4-day average stay; readmission stay length is not in the data)</a:t>
            </a:r>
            <a:endParaRPr lang="en-US" sz="1050" dirty="0"/>
          </a:p>
        </p:txBody>
      </p:sp>
      <p:sp>
        <p:nvSpPr>
          <p:cNvPr id="10" name="Value 3"/>
          <p:cNvSpPr/>
          <p:nvPr/>
        </p:nvSpPr>
        <p:spPr>
          <a:xfrm>
            <a:off x="45720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14,615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encounters in the first target group (2+ prior admissions): 21.4% readmitted, 12.0% tested</a:t>
            </a:r>
            <a:endParaRPr lang="en-US" sz="1050" dirty="0"/>
          </a:p>
        </p:txBody>
      </p:sp>
      <p:sp>
        <p:nvSpPr>
          <p:cNvPr id="13" name="Value 4"/>
          <p:cNvSpPr/>
          <p:nvPr/>
        </p:nvSpPr>
        <p:spPr>
          <a:xfrm>
            <a:off x="3200400" y="29718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83280" y="30815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89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patients currently not tested would be spared a 30-day return (83,244 / 931)</a:t>
            </a:r>
            <a:endParaRPr lang="en-US" sz="1050" dirty="0"/>
          </a:p>
        </p:txBody>
      </p:sp>
      <p:sp>
        <p:nvSpPr>
          <p:cNvPr id="16" name="Dollar formula"/>
          <p:cNvSpPr/>
          <p:nvPr/>
        </p:nvSpPr>
        <p:spPr>
          <a:xfrm>
            <a:off x="6035040" y="128016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</a:rPr>
              <a:t>Converting to dollars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The dataset has no cost or charge fields, so no dollar figure is claimed here.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A3C4BC"/>
                </a:solidFill>
              </a:rPr>
              <a:t>Value = bed-days released x your cost per bed-day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Minus: cost of added HbA1c tests (up to 84,748 tests).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NEXT STEPS &amp; LIMITS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both fixes with a 90-day pilot before scaling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 design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66420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RevOps scope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019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Back-fill 1,660 encounters; hard stop on admission type 6, 8 and source 2, 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7744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FinOps scope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15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HbA1c order for 2+ prior admissions and dx Diabetes, Respiratory, Injury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0906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Compare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3284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Units with the changes vs units without, same period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384048" cy="384048"/>
          </a:xfrm>
          <a:prstGeom prst="ellipse">
            <a:avLst/>
          </a:prstGeom>
          <a:solidFill>
            <a:srgbClr val="0B6E75"/>
          </a:solidFill>
          <a:ln w="12700">
            <a:solidFill>
              <a:srgbClr val="0B6E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80390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Go / no-go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Payer capture near 100%; readmission gap in line with the adjusted odds ratio</a:t>
            </a:r>
            <a:endParaRPr lang="en-US" sz="1100" dirty="0"/>
          </a:p>
        </p:txBody>
      </p:sp>
      <p:sp>
        <p:nvSpPr>
          <p:cNvPr id="21" name="Limitations card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What the data cannot tell us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78308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Association, not causation: HbA1c may mark more attentive care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First-encounter-only check: OR 0.94, p = 0.09 (not significant)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Payer and admission code labels are not in the Kaggle files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Cannot tell if a blank payer was blank at the hospital or removed in the extract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Data is 1999-2008, with no costs, charges, dates or hospital IDs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C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abetes RevOps">
  <a:themeElements>
    <a:clrScheme name="Diabetes RevOps">
      <a:dk1>
        <a:srgbClr val="1B2A33"/>
      </a:dk1>
      <a:lt1>
        <a:srgbClr val="FFFFFF"/>
      </a:lt1>
      <a:dk2>
        <a:srgbClr val="0B3C49"/>
      </a:dk2>
      <a:lt2>
        <a:srgbClr val="EEF4F3"/>
      </a:lt2>
      <a:accent1>
        <a:srgbClr val="0B6E75"/>
      </a:accent1>
      <a:accent2>
        <a:srgbClr val="E4572E"/>
      </a:accent2>
      <a:accent3>
        <a:srgbClr val="F2A541"/>
      </a:accent3>
      <a:accent4>
        <a:srgbClr val="7A9E9F"/>
      </a:accent4>
      <a:accent5>
        <a:srgbClr val="3D5A80"/>
      </a:accent5>
      <a:accent6>
        <a:srgbClr val="A3C4BC"/>
      </a:accent6>
      <a:hlink>
        <a:srgbClr val="0B6E75"/>
      </a:hlink>
      <a:folHlink>
        <a:srgbClr val="3D5A80"/>
      </a:folHlink>
    </a:clrScheme>
    <a:fontScheme name="Diabetes Rev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Diabetic Inpatients: RevOps and FinOps Opportunity</dc:title>
  <dc:subject>PptxGenJS Presentation</dc:subject>
  <dc:creator>PptxGenJS</dc:creator>
  <cp:lastModifiedBy>PptxGenJS</cp:lastModifiedBy>
  <cp:revision>1</cp:revision>
  <dcterms:created xsi:type="dcterms:W3CDTF">2026-10-09T17:16:46Z</dcterms:created>
  <dcterms:modified xsi:type="dcterms:W3CDTF">2026-10-09T17:16:46Z</dcterms:modified>
</cp:coreProperties>
</file>